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C46"/>
    <a:srgbClr val="D9D243"/>
    <a:srgbClr val="738341"/>
    <a:srgbClr val="23717B"/>
    <a:srgbClr val="AF5DBF"/>
    <a:srgbClr val="317D7F"/>
    <a:srgbClr val="61B0BB"/>
    <a:srgbClr val="D20000"/>
    <a:srgbClr val="4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38" y="-2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slide" Target="slide14.xml"/><Relationship Id="rId18" Type="http://schemas.openxmlformats.org/officeDocument/2006/relationships/slide" Target="slide19.xml"/><Relationship Id="rId26" Type="http://schemas.openxmlformats.org/officeDocument/2006/relationships/slide" Target="slide1.xml"/><Relationship Id="rId21" Type="http://schemas.openxmlformats.org/officeDocument/2006/relationships/slide" Target="slide22.xml"/><Relationship Id="rId34" Type="http://schemas.openxmlformats.org/officeDocument/2006/relationships/image" Target="../media/image8.png"/><Relationship Id="rId7" Type="http://schemas.openxmlformats.org/officeDocument/2006/relationships/slide" Target="slide8.xml"/><Relationship Id="rId12" Type="http://schemas.openxmlformats.org/officeDocument/2006/relationships/slide" Target="slide13.xml"/><Relationship Id="rId17" Type="http://schemas.openxmlformats.org/officeDocument/2006/relationships/slide" Target="slide18.xml"/><Relationship Id="rId25" Type="http://schemas.openxmlformats.org/officeDocument/2006/relationships/slide" Target="slide26.xml"/><Relationship Id="rId33" Type="http://schemas.openxmlformats.org/officeDocument/2006/relationships/image" Target="../media/image7.png"/><Relationship Id="rId38" Type="http://schemas.openxmlformats.org/officeDocument/2006/relationships/image" Target="../media/image12.png"/><Relationship Id="rId2" Type="http://schemas.openxmlformats.org/officeDocument/2006/relationships/slide" Target="slide3.xml"/><Relationship Id="rId16" Type="http://schemas.openxmlformats.org/officeDocument/2006/relationships/slide" Target="slide17.xml"/><Relationship Id="rId20" Type="http://schemas.openxmlformats.org/officeDocument/2006/relationships/slide" Target="slide21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24" Type="http://schemas.openxmlformats.org/officeDocument/2006/relationships/slide" Target="slide25.xml"/><Relationship Id="rId32" Type="http://schemas.openxmlformats.org/officeDocument/2006/relationships/image" Target="../media/image6.png"/><Relationship Id="rId37" Type="http://schemas.openxmlformats.org/officeDocument/2006/relationships/image" Target="../media/image11.png"/><Relationship Id="rId5" Type="http://schemas.openxmlformats.org/officeDocument/2006/relationships/slide" Target="slide6.xml"/><Relationship Id="rId15" Type="http://schemas.openxmlformats.org/officeDocument/2006/relationships/slide" Target="slide16.xml"/><Relationship Id="rId23" Type="http://schemas.openxmlformats.org/officeDocument/2006/relationships/slide" Target="slide24.xml"/><Relationship Id="rId28" Type="http://schemas.openxmlformats.org/officeDocument/2006/relationships/image" Target="../media/image2.png"/><Relationship Id="rId36" Type="http://schemas.openxmlformats.org/officeDocument/2006/relationships/image" Target="../media/image10.png"/><Relationship Id="rId10" Type="http://schemas.openxmlformats.org/officeDocument/2006/relationships/slide" Target="slide11.xml"/><Relationship Id="rId19" Type="http://schemas.openxmlformats.org/officeDocument/2006/relationships/slide" Target="slide20.xml"/><Relationship Id="rId31" Type="http://schemas.openxmlformats.org/officeDocument/2006/relationships/image" Target="../media/image5.png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Relationship Id="rId22" Type="http://schemas.openxmlformats.org/officeDocument/2006/relationships/slide" Target="slide23.xml"/><Relationship Id="rId27" Type="http://schemas.openxmlformats.org/officeDocument/2006/relationships/image" Target="../media/image1.png"/><Relationship Id="rId30" Type="http://schemas.openxmlformats.org/officeDocument/2006/relationships/image" Target="../media/image4.png"/><Relationship Id="rId35" Type="http://schemas.openxmlformats.org/officeDocument/2006/relationships/image" Target="../media/image9.png"/><Relationship Id="rId8" Type="http://schemas.openxmlformats.org/officeDocument/2006/relationships/slide" Target="slide9.xml"/><Relationship Id="rId3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5.png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5.wdp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6.wdp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8.wdp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9.wdp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0.wdp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1.wdp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2.wdp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12648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188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1371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43000"/>
            <a:ext cx="10149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E7BE69"/>
                </a:solidFill>
                <a:latin typeface="Aptos"/>
              </a:rPr>
              <a:t>T A R O T   A R C A 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74519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75CAE5"/>
                </a:solidFill>
                <a:latin typeface="Aptos"/>
              </a:rPr>
              <a:t>12 kartu • 24 interpretasi • dua sisi takdir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9204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7EED8"/>
                </a:solidFill>
                <a:latin typeface="Aptos"/>
              </a:rPr>
              <a:t>Jelajahi makna Upright dan Reversed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507920"/>
            <a:ext cx="90525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200" b="0" dirty="0">
                <a:solidFill>
                  <a:srgbClr val="B1B8D3"/>
                </a:solidFill>
                <a:latin typeface="Aptos"/>
              </a:rPr>
              <a:t>Cari tau </a:t>
            </a:r>
            <a:r>
              <a:rPr lang="en-US" sz="1200" b="0" dirty="0" err="1">
                <a:solidFill>
                  <a:srgbClr val="B1B8D3"/>
                </a:solidFill>
                <a:latin typeface="Aptos"/>
              </a:rPr>
              <a:t>apa</a:t>
            </a:r>
            <a:r>
              <a:rPr lang="en-US" sz="1200" b="0" dirty="0">
                <a:solidFill>
                  <a:srgbClr val="B1B8D3"/>
                </a:solidFill>
                <a:latin typeface="Aptos"/>
              </a:rPr>
              <a:t> Nasib </a:t>
            </a:r>
            <a:r>
              <a:rPr lang="en-US" sz="1200" b="0" dirty="0" err="1">
                <a:solidFill>
                  <a:srgbClr val="B1B8D3"/>
                </a:solidFill>
                <a:latin typeface="Aptos"/>
              </a:rPr>
              <a:t>kamu</a:t>
            </a:r>
            <a:r>
              <a:rPr lang="en-US" sz="1200" b="0" dirty="0">
                <a:solidFill>
                  <a:srgbClr val="B1B8D3"/>
                </a:solidFill>
                <a:latin typeface="Aptos"/>
              </a:rPr>
              <a:t> di </a:t>
            </a:r>
            <a:r>
              <a:rPr lang="en-US" sz="1200" b="0" dirty="0" err="1">
                <a:solidFill>
                  <a:srgbClr val="B1B8D3"/>
                </a:solidFill>
                <a:latin typeface="Aptos"/>
              </a:rPr>
              <a:t>Berbagai</a:t>
            </a:r>
            <a:r>
              <a:rPr lang="en-US" sz="1200" b="0" dirty="0">
                <a:solidFill>
                  <a:srgbClr val="B1B8D3"/>
                </a:solidFill>
                <a:latin typeface="Aptos"/>
              </a:rPr>
              <a:t> </a:t>
            </a:r>
            <a:r>
              <a:rPr lang="en-US" sz="1200" b="0" dirty="0" err="1">
                <a:solidFill>
                  <a:srgbClr val="B1B8D3"/>
                </a:solidFill>
                <a:latin typeface="Aptos"/>
              </a:rPr>
              <a:t>waktu</a:t>
            </a:r>
            <a:r>
              <a:rPr lang="en-US" sz="1200" b="0" dirty="0">
                <a:solidFill>
                  <a:srgbClr val="B1B8D3"/>
                </a:solidFill>
                <a:latin typeface="Aptos"/>
              </a:rPr>
              <a:t> 👀</a:t>
            </a:r>
            <a:endParaRPr sz="1200" b="0" dirty="0">
              <a:solidFill>
                <a:srgbClr val="B1B8D3"/>
              </a:solidFill>
              <a:latin typeface="Aptos"/>
            </a:endParaRPr>
          </a:p>
        </p:txBody>
      </p:sp>
      <p:sp>
        <p:nvSpPr>
          <p:cNvPr id="18" name="Rounded Rectangle 17">
            <a:hlinkClick r:id="rId2" action="ppaction://hlinksldjump"/>
          </p:cNvPr>
          <p:cNvSpPr/>
          <p:nvPr/>
        </p:nvSpPr>
        <p:spPr>
          <a:xfrm>
            <a:off x="4709160" y="5897880"/>
            <a:ext cx="2743200" cy="548640"/>
          </a:xfrm>
          <a:prstGeom prst="roundRect">
            <a:avLst/>
          </a:prstGeom>
          <a:solidFill>
            <a:srgbClr val="E7BE69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022"/>
                </a:solidFill>
                <a:latin typeface="Aptos"/>
              </a:rPr>
              <a:t>MULAI JELAJAHI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E7BE69"/>
                </a:solidFill>
                <a:latin typeface="Aptos"/>
              </a:rPr>
              <a:t>PILIH KARTU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10149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1B8D3"/>
                </a:solidFill>
                <a:latin typeface="Aptos"/>
              </a:rPr>
              <a:t>Pilih nama kartu untuk membuka interpretasi tegak atau terbalik.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1245146" y="1490472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The Fool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1245146" y="1956816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2232698" y="1956816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9" name="Rounded Rectangle 8">
            <a:hlinkClick r:id="rId4" action="ppaction://hlinksldjump"/>
          </p:cNvPr>
          <p:cNvSpPr/>
          <p:nvPr/>
        </p:nvSpPr>
        <p:spPr>
          <a:xfrm>
            <a:off x="4125506" y="1490472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The Magician</a:t>
            </a:r>
          </a:p>
        </p:txBody>
      </p:sp>
      <p:sp>
        <p:nvSpPr>
          <p:cNvPr id="10" name="Rounded Rectangle 9">
            <a:hlinkClick r:id="rId4" action="ppaction://hlinksldjump"/>
          </p:cNvPr>
          <p:cNvSpPr/>
          <p:nvPr/>
        </p:nvSpPr>
        <p:spPr>
          <a:xfrm>
            <a:off x="4125506" y="1956816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11" name="Rounded Rectangle 10">
            <a:hlinkClick r:id="rId5" action="ppaction://hlinksldjump"/>
          </p:cNvPr>
          <p:cNvSpPr/>
          <p:nvPr/>
        </p:nvSpPr>
        <p:spPr>
          <a:xfrm>
            <a:off x="5113058" y="1956816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13" name="Rounded Rectangle 12">
            <a:hlinkClick r:id="rId6" action="ppaction://hlinksldjump"/>
          </p:cNvPr>
          <p:cNvSpPr/>
          <p:nvPr/>
        </p:nvSpPr>
        <p:spPr>
          <a:xfrm>
            <a:off x="7005865" y="1490472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The High Priestess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7005865" y="1956816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7993417" y="1956816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17" name="Rounded Rectangle 16">
            <a:hlinkClick r:id="rId8" action="ppaction://hlinksldjump"/>
          </p:cNvPr>
          <p:cNvSpPr/>
          <p:nvPr/>
        </p:nvSpPr>
        <p:spPr>
          <a:xfrm>
            <a:off x="9886226" y="1490472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The Empress</a:t>
            </a:r>
          </a:p>
        </p:txBody>
      </p:sp>
      <p:sp>
        <p:nvSpPr>
          <p:cNvPr id="18" name="Rounded Rectangle 17">
            <a:hlinkClick r:id="rId8" action="ppaction://hlinksldjump"/>
          </p:cNvPr>
          <p:cNvSpPr/>
          <p:nvPr/>
        </p:nvSpPr>
        <p:spPr>
          <a:xfrm>
            <a:off x="9886226" y="1956816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19" name="Rounded Rectangle 18">
            <a:hlinkClick r:id="rId9" action="ppaction://hlinksldjump"/>
          </p:cNvPr>
          <p:cNvSpPr/>
          <p:nvPr/>
        </p:nvSpPr>
        <p:spPr>
          <a:xfrm>
            <a:off x="10873778" y="1956816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1245146" y="3063240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The Emperor</a:t>
            </a:r>
          </a:p>
        </p:txBody>
      </p:sp>
      <p:sp>
        <p:nvSpPr>
          <p:cNvPr id="22" name="Rounded Rectangle 21">
            <a:hlinkClick r:id="rId10" action="ppaction://hlinksldjump"/>
          </p:cNvPr>
          <p:cNvSpPr/>
          <p:nvPr/>
        </p:nvSpPr>
        <p:spPr>
          <a:xfrm>
            <a:off x="1245146" y="3529584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23" name="Rounded Rectangle 22">
            <a:hlinkClick r:id="rId11" action="ppaction://hlinksldjump"/>
          </p:cNvPr>
          <p:cNvSpPr/>
          <p:nvPr/>
        </p:nvSpPr>
        <p:spPr>
          <a:xfrm>
            <a:off x="2232698" y="3529584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25" name="Rounded Rectangle 24">
            <a:hlinkClick r:id="rId12" action="ppaction://hlinksldjump"/>
          </p:cNvPr>
          <p:cNvSpPr/>
          <p:nvPr/>
        </p:nvSpPr>
        <p:spPr>
          <a:xfrm>
            <a:off x="4125506" y="3063240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The Hierophant</a:t>
            </a:r>
          </a:p>
        </p:txBody>
      </p:sp>
      <p:sp>
        <p:nvSpPr>
          <p:cNvPr id="26" name="Rounded Rectangle 25">
            <a:hlinkClick r:id="rId12" action="ppaction://hlinksldjump"/>
          </p:cNvPr>
          <p:cNvSpPr/>
          <p:nvPr/>
        </p:nvSpPr>
        <p:spPr>
          <a:xfrm>
            <a:off x="4125506" y="3529584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27" name="Rounded Rectangle 26">
            <a:hlinkClick r:id="rId13" action="ppaction://hlinksldjump"/>
          </p:cNvPr>
          <p:cNvSpPr/>
          <p:nvPr/>
        </p:nvSpPr>
        <p:spPr>
          <a:xfrm>
            <a:off x="5113058" y="3529584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29" name="Rounded Rectangle 28">
            <a:hlinkClick r:id="rId14" action="ppaction://hlinksldjump"/>
          </p:cNvPr>
          <p:cNvSpPr/>
          <p:nvPr/>
        </p:nvSpPr>
        <p:spPr>
          <a:xfrm>
            <a:off x="7005865" y="3063240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The Lovers</a:t>
            </a:r>
          </a:p>
        </p:txBody>
      </p:sp>
      <p:sp>
        <p:nvSpPr>
          <p:cNvPr id="30" name="Rounded Rectangle 29">
            <a:hlinkClick r:id="rId14" action="ppaction://hlinksldjump"/>
          </p:cNvPr>
          <p:cNvSpPr/>
          <p:nvPr/>
        </p:nvSpPr>
        <p:spPr>
          <a:xfrm>
            <a:off x="7005865" y="3529584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31" name="Rounded Rectangle 30">
            <a:hlinkClick r:id="rId15" action="ppaction://hlinksldjump"/>
          </p:cNvPr>
          <p:cNvSpPr/>
          <p:nvPr/>
        </p:nvSpPr>
        <p:spPr>
          <a:xfrm>
            <a:off x="7993417" y="3529584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33" name="Rounded Rectangle 32">
            <a:hlinkClick r:id="rId16" action="ppaction://hlinksldjump"/>
          </p:cNvPr>
          <p:cNvSpPr/>
          <p:nvPr/>
        </p:nvSpPr>
        <p:spPr>
          <a:xfrm>
            <a:off x="9886226" y="3063240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The Chariot</a:t>
            </a:r>
          </a:p>
        </p:txBody>
      </p:sp>
      <p:sp>
        <p:nvSpPr>
          <p:cNvPr id="34" name="Rounded Rectangle 33">
            <a:hlinkClick r:id="rId16" action="ppaction://hlinksldjump"/>
          </p:cNvPr>
          <p:cNvSpPr/>
          <p:nvPr/>
        </p:nvSpPr>
        <p:spPr>
          <a:xfrm>
            <a:off x="9886226" y="3529584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35" name="Rounded Rectangle 34">
            <a:hlinkClick r:id="rId17" action="ppaction://hlinksldjump"/>
          </p:cNvPr>
          <p:cNvSpPr/>
          <p:nvPr/>
        </p:nvSpPr>
        <p:spPr>
          <a:xfrm>
            <a:off x="10873778" y="3529584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37" name="Rounded Rectangle 36">
            <a:hlinkClick r:id="rId18" action="ppaction://hlinksldjump"/>
          </p:cNvPr>
          <p:cNvSpPr/>
          <p:nvPr/>
        </p:nvSpPr>
        <p:spPr>
          <a:xfrm>
            <a:off x="1245146" y="4636008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Strength</a:t>
            </a:r>
          </a:p>
        </p:txBody>
      </p:sp>
      <p:sp>
        <p:nvSpPr>
          <p:cNvPr id="38" name="Rounded Rectangle 37">
            <a:hlinkClick r:id="rId18" action="ppaction://hlinksldjump"/>
          </p:cNvPr>
          <p:cNvSpPr/>
          <p:nvPr/>
        </p:nvSpPr>
        <p:spPr>
          <a:xfrm>
            <a:off x="1245146" y="5102352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39" name="Rounded Rectangle 38">
            <a:hlinkClick r:id="rId19" action="ppaction://hlinksldjump"/>
          </p:cNvPr>
          <p:cNvSpPr/>
          <p:nvPr/>
        </p:nvSpPr>
        <p:spPr>
          <a:xfrm>
            <a:off x="2232698" y="5102352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41" name="Rounded Rectangle 40">
            <a:hlinkClick r:id="rId20" action="ppaction://hlinksldjump"/>
          </p:cNvPr>
          <p:cNvSpPr/>
          <p:nvPr/>
        </p:nvSpPr>
        <p:spPr>
          <a:xfrm>
            <a:off x="4125506" y="4636008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The Hermit</a:t>
            </a:r>
          </a:p>
        </p:txBody>
      </p:sp>
      <p:sp>
        <p:nvSpPr>
          <p:cNvPr id="42" name="Rounded Rectangle 41">
            <a:hlinkClick r:id="rId20" action="ppaction://hlinksldjump"/>
          </p:cNvPr>
          <p:cNvSpPr/>
          <p:nvPr/>
        </p:nvSpPr>
        <p:spPr>
          <a:xfrm>
            <a:off x="4125506" y="5102352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43" name="Rounded Rectangle 42">
            <a:hlinkClick r:id="rId21" action="ppaction://hlinksldjump"/>
          </p:cNvPr>
          <p:cNvSpPr/>
          <p:nvPr/>
        </p:nvSpPr>
        <p:spPr>
          <a:xfrm>
            <a:off x="5113058" y="5102352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45" name="Rounded Rectangle 44">
            <a:hlinkClick r:id="rId22" action="ppaction://hlinksldjump"/>
          </p:cNvPr>
          <p:cNvSpPr/>
          <p:nvPr/>
        </p:nvSpPr>
        <p:spPr>
          <a:xfrm>
            <a:off x="7005865" y="4636008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Wheel of Fortune</a:t>
            </a:r>
          </a:p>
        </p:txBody>
      </p:sp>
      <p:sp>
        <p:nvSpPr>
          <p:cNvPr id="46" name="Rounded Rectangle 45">
            <a:hlinkClick r:id="rId22" action="ppaction://hlinksldjump"/>
          </p:cNvPr>
          <p:cNvSpPr/>
          <p:nvPr/>
        </p:nvSpPr>
        <p:spPr>
          <a:xfrm>
            <a:off x="7005865" y="5102352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47" name="Rounded Rectangle 46">
            <a:hlinkClick r:id="rId23" action="ppaction://hlinksldjump"/>
          </p:cNvPr>
          <p:cNvSpPr/>
          <p:nvPr/>
        </p:nvSpPr>
        <p:spPr>
          <a:xfrm>
            <a:off x="7993417" y="5102352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49" name="Rounded Rectangle 48">
            <a:hlinkClick r:id="rId24" action="ppaction://hlinksldjump"/>
          </p:cNvPr>
          <p:cNvSpPr/>
          <p:nvPr/>
        </p:nvSpPr>
        <p:spPr>
          <a:xfrm>
            <a:off x="9886226" y="4636008"/>
            <a:ext cx="1920240" cy="402336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7EED8"/>
                </a:solidFill>
                <a:latin typeface="Aptos"/>
              </a:rPr>
              <a:t>Justice</a:t>
            </a:r>
          </a:p>
        </p:txBody>
      </p:sp>
      <p:sp>
        <p:nvSpPr>
          <p:cNvPr id="50" name="Rounded Rectangle 49">
            <a:hlinkClick r:id="rId24" action="ppaction://hlinksldjump"/>
          </p:cNvPr>
          <p:cNvSpPr/>
          <p:nvPr/>
        </p:nvSpPr>
        <p:spPr>
          <a:xfrm>
            <a:off x="9886226" y="5102352"/>
            <a:ext cx="914400" cy="329184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Upright</a:t>
            </a:r>
          </a:p>
        </p:txBody>
      </p:sp>
      <p:sp>
        <p:nvSpPr>
          <p:cNvPr id="51" name="Rounded Rectangle 50">
            <a:hlinkClick r:id="rId25" action="ppaction://hlinksldjump"/>
          </p:cNvPr>
          <p:cNvSpPr/>
          <p:nvPr/>
        </p:nvSpPr>
        <p:spPr>
          <a:xfrm>
            <a:off x="10873778" y="5102352"/>
            <a:ext cx="932688" cy="329184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022"/>
                </a:solidFill>
                <a:latin typeface="Aptos"/>
              </a:rPr>
              <a:t>Reversed</a:t>
            </a:r>
          </a:p>
        </p:txBody>
      </p:sp>
      <p:sp>
        <p:nvSpPr>
          <p:cNvPr id="52" name="Rounded Rectangle 51">
            <a:hlinkClick r:id="rId26" action="ppaction://hlinksldjump"/>
          </p:cNvPr>
          <p:cNvSpPr/>
          <p:nvPr/>
        </p:nvSpPr>
        <p:spPr>
          <a:xfrm>
            <a:off x="5074920" y="6355080"/>
            <a:ext cx="2011680" cy="347472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7EED8"/>
                </a:solidFill>
                <a:latin typeface="Aptos"/>
              </a:rPr>
              <a:t>← Sampul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6016752"/>
            <a:ext cx="10332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1B8D3"/>
                </a:solidFill>
                <a:latin typeface="Aptos"/>
              </a:rPr>
              <a:t>Catatan: interpretasi untuk hiburan dan refleksi diri, bukan kepastian masa depan.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F5C5C5D-E18E-3741-12F3-4EB954DA6B55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362" y="1490472"/>
            <a:ext cx="607568" cy="137448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618A3CB-6737-62FD-8CC9-691F969B59C0}"/>
              </a:ext>
            </a:extLst>
          </p:cNvPr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6588" y="1490472"/>
            <a:ext cx="520907" cy="137447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5ACAA32-4ADB-BD10-870B-ADA8F7A4BD0A}"/>
              </a:ext>
            </a:extLst>
          </p:cNvPr>
          <p:cNvPicPr>
            <a:picLocks noChangeAspect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0028" y="1490472"/>
            <a:ext cx="492685" cy="137617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03ECF26D-5A31-86D5-4FDF-444C84C30161}"/>
              </a:ext>
            </a:extLst>
          </p:cNvPr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93535" y="1490472"/>
            <a:ext cx="504680" cy="137448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7DB4A37-2B48-F8B7-9E25-2766418A5455}"/>
              </a:ext>
            </a:extLst>
          </p:cNvPr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96" y="3066372"/>
            <a:ext cx="520133" cy="137448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57E48282-46A2-0FE5-433E-C82AB727AC4B}"/>
              </a:ext>
            </a:extLst>
          </p:cNvPr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3428" y="3063240"/>
            <a:ext cx="524067" cy="137761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4C8ED9C-86C4-C321-5D48-54797417DF09}"/>
              </a:ext>
            </a:extLst>
          </p:cNvPr>
          <p:cNvPicPr>
            <a:picLocks noChangeAspect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2975" y="3066372"/>
            <a:ext cx="539578" cy="137448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E1C7083-2002-39A6-5310-D763827CBF1C}"/>
              </a:ext>
            </a:extLst>
          </p:cNvPr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5935" y="3060699"/>
            <a:ext cx="532280" cy="138015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5B577B1-55DB-AE80-CEBB-0F218E85C30E}"/>
              </a:ext>
            </a:extLst>
          </p:cNvPr>
          <p:cNvPicPr>
            <a:picLocks noChangeAspect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187" y="4636599"/>
            <a:ext cx="532742" cy="138015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391DD528-E998-131E-FF61-8220E3E4C17F}"/>
              </a:ext>
            </a:extLst>
          </p:cNvPr>
          <p:cNvPicPr>
            <a:picLocks noChangeAspect="1"/>
          </p:cNvPicPr>
          <p:nvPr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3428" y="4636008"/>
            <a:ext cx="521763" cy="137448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ED5FF8D-B86E-9B71-4BB4-3D65BECA387D}"/>
              </a:ext>
            </a:extLst>
          </p:cNvPr>
          <p:cNvPicPr>
            <a:picLocks noChangeAspect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2975" y="4636685"/>
            <a:ext cx="533447" cy="1380153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0356DF27-E324-1298-6F29-18AD22308DD6}"/>
              </a:ext>
            </a:extLst>
          </p:cNvPr>
          <p:cNvPicPr>
            <a:picLocks noChangeAspect="1"/>
          </p:cNvPicPr>
          <p:nvPr/>
        </p:nvPicPr>
        <p:blipFill>
          <a:blip r:embed="rId3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93535" y="4636685"/>
            <a:ext cx="521232" cy="1380153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8A8D7C2-F529-5C98-E019-7C15C5C918CB}"/>
              </a:ext>
            </a:extLst>
          </p:cNvPr>
          <p:cNvSpPr txBox="1"/>
          <p:nvPr/>
        </p:nvSpPr>
        <p:spPr>
          <a:xfrm>
            <a:off x="970826" y="3017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600FDA-0BE3-194A-B9A8-2A909C192CE4}"/>
              </a:ext>
            </a:extLst>
          </p:cNvPr>
          <p:cNvSpPr txBox="1"/>
          <p:nvPr/>
        </p:nvSpPr>
        <p:spPr>
          <a:xfrm>
            <a:off x="9953282" y="48713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C461F7-5902-8AD9-3921-877A8DAED5F7}"/>
              </a:ext>
            </a:extLst>
          </p:cNvPr>
          <p:cNvSpPr txBox="1"/>
          <p:nvPr/>
        </p:nvSpPr>
        <p:spPr>
          <a:xfrm>
            <a:off x="11590075" y="574251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0FFDAE7-CE84-5422-6750-9782F346A8BF}"/>
              </a:ext>
            </a:extLst>
          </p:cNvPr>
          <p:cNvSpPr txBox="1"/>
          <p:nvPr/>
        </p:nvSpPr>
        <p:spPr>
          <a:xfrm>
            <a:off x="2424722" y="64184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02835CE-8CD6-5BAC-B422-7E49DE6277CA}"/>
              </a:ext>
            </a:extLst>
          </p:cNvPr>
          <p:cNvSpPr txBox="1"/>
          <p:nvPr/>
        </p:nvSpPr>
        <p:spPr>
          <a:xfrm>
            <a:off x="335191" y="143052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3A34BD-4529-3EC4-137C-41E4227F9FC1}"/>
              </a:ext>
            </a:extLst>
          </p:cNvPr>
          <p:cNvSpPr txBox="1"/>
          <p:nvPr/>
        </p:nvSpPr>
        <p:spPr>
          <a:xfrm>
            <a:off x="9784080" y="1371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837C538-8FED-1E1F-539F-FA4D6A42F6D8}"/>
              </a:ext>
            </a:extLst>
          </p:cNvPr>
          <p:cNvSpPr txBox="1"/>
          <p:nvPr/>
        </p:nvSpPr>
        <p:spPr>
          <a:xfrm>
            <a:off x="274320" y="549249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E7BE69"/>
                </a:solidFill>
                <a:latin typeface="Aptos"/>
              </a:rPr>
              <a:t>✦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1B0BB"/>
            </a:gs>
            <a:gs pos="50000">
              <a:srgbClr val="49979D"/>
            </a:gs>
            <a:gs pos="100000">
              <a:srgbClr val="317D7F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Fool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COMMON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Awal baru, keberanian, dan peluang.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1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298246-17FE-3A94-2716-0D26D819414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794" y="256032"/>
            <a:ext cx="2842091" cy="6429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Fool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COMMON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Kecerobohan, keputusan terburu-buru, dan kurang pertimbangan.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1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1CD252-9186-1C74-C507-61F148FC24D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27794" y="256032"/>
            <a:ext cx="2842091" cy="6429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1B0BB"/>
            </a:gs>
            <a:gs pos="50000">
              <a:srgbClr val="49979D"/>
            </a:gs>
            <a:gs pos="100000">
              <a:srgbClr val="317D7F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Magician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COMMON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Kemampuan, kreativitas, dan mewujudkan 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2 dari 12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4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E75FFC-F6F4-1AC0-2879-069AF992FCB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764" y="256032"/>
            <a:ext cx="2405016" cy="634593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Magician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COMMON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Potensi tak dimanfaatkan, manipulasi, dan kurang fokus.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2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18C96A-468E-EB9C-EEB4-FDE7B0788E9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73764" y="256032"/>
            <a:ext cx="2405016" cy="6345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1B0BB"/>
            </a:gs>
            <a:gs pos="50000">
              <a:srgbClr val="49979D"/>
            </a:gs>
            <a:gs pos="100000">
              <a:srgbClr val="317D7F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High Priestess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COMMON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Intuisi, kebijaksanaan batin, dan rahasia.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3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F70348-2914-36C9-B633-D9FD329D4AD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040" y="198154"/>
            <a:ext cx="2313358" cy="6461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High Priestess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COMMON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Intuisi diabaikan, kebingungan, dan informasi tersembunyi.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3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5168EA-19A0-F3C4-F564-8A23F218AEF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082040" y="198154"/>
            <a:ext cx="2313358" cy="6461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1B0BB"/>
            </a:gs>
            <a:gs pos="50000">
              <a:srgbClr val="49979D"/>
            </a:gs>
            <a:gs pos="100000">
              <a:srgbClr val="317D7F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Empress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COMMON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Kasih sayang, kreativitas, dan pertumbuhan.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4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BDB1F5-3724-6241-5F91-AFAAF8AC54B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536" y="253151"/>
            <a:ext cx="2379472" cy="64804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Empress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COMMON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Ketergantungan berlebihan dan kreativitas terhambat.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4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EE4DD8-B9A6-C039-2DED-42476AFFA78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86536" y="253151"/>
            <a:ext cx="2379472" cy="64804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1B0BB"/>
            </a:gs>
            <a:gs pos="50000">
              <a:srgbClr val="49979D"/>
            </a:gs>
            <a:gs pos="100000">
              <a:srgbClr val="317D7F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Emperor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COMMON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Kepemimpinan, disiplin, dan kestabilan.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5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0F5589-293B-17DA-97F7-2A13E3D4F5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199" y="184892"/>
            <a:ext cx="2455281" cy="6488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Emperor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COMMON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Kekakuan, keras kepala, dan sikap terlalu mengendalikan.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5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B934DB-4E7D-8481-FB6E-DAF841904BE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1199" y="184892"/>
            <a:ext cx="2455281" cy="6488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1B0BB"/>
            </a:gs>
            <a:gs pos="50000">
              <a:srgbClr val="49979D"/>
            </a:gs>
            <a:gs pos="100000">
              <a:srgbClr val="317D7F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Hierophant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COMMON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Bimbingan, pendidikan, tradisi, dan nilai moral.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6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7DA191-15CB-B060-E94E-29F9E4154F3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958" y="238077"/>
            <a:ext cx="2427763" cy="6381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Hierophant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COMMON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Aturan membatasi dan mengikuti nasihat tanpa berpikir kritis.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6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EB07D0-FDC9-9299-BC79-60CAEDC228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34958" y="238077"/>
            <a:ext cx="2427763" cy="6381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F5DBF"/>
            </a:gs>
            <a:gs pos="100000">
              <a:srgbClr val="23717B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Lovers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RARE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Cinta, kepercayaan, keharmonisan, dan pilihan.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7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2F82A4-F269-55F7-EC61-96CDDDC5E57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952" y="256033"/>
            <a:ext cx="2491216" cy="6345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Lovers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RARE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Ketidakjujuran, perbedaan nilai, dan hubungan renggang.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7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1A0CE3-7A1A-8814-DA7F-447262116BC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48952" y="256033"/>
            <a:ext cx="2491216" cy="6345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F5DBF"/>
            </a:gs>
            <a:gs pos="100000">
              <a:srgbClr val="23717B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Chariot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RARE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Tekad, kendali diri, ambisi, dan kemenangan.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8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0C2362-94E1-1110-0552-F784E9C0F7E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040" y="245659"/>
            <a:ext cx="2479040" cy="64279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Chariot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RARE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Kehilangan arah, kurang disiplin, dan ambisi tak terkendali.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8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877EA0-69AC-D70B-F9B0-E1D00453710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55040" y="245659"/>
            <a:ext cx="2479040" cy="64279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F5DBF"/>
            </a:gs>
            <a:gs pos="100000">
              <a:srgbClr val="23717B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RARE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Keberanian, kesabaran, dan kekuatan batin.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9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E49995-EDD7-DA4A-A761-2E7A77957E1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040" y="256033"/>
            <a:ext cx="2449546" cy="6345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RARE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Keraguan diri dan kesulitan mengendalikan emosi.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9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69D1E9-C406-A0E1-EFD5-0138DF2CE93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082040" y="256033"/>
            <a:ext cx="2449546" cy="6345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F5DBF"/>
            </a:gs>
            <a:gs pos="100000">
              <a:srgbClr val="23717B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Hermit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RARE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Introspeksi, jati diri, dan kebijaksanaan.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10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6482B7-33CA-F49D-D4C1-CB077D8795C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040" y="182456"/>
            <a:ext cx="2464825" cy="6493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The Hermit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RARE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Isolasi berlebihan dan menjauh dari dukungan.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10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AF99EE-B9CF-35CB-411F-DC9E94981A8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082040" y="182456"/>
            <a:ext cx="2464825" cy="6493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2FC46"/>
            </a:gs>
            <a:gs pos="53000">
              <a:srgbClr val="738341"/>
            </a:gs>
            <a:gs pos="78650">
              <a:srgbClr val="D9D243"/>
            </a:gs>
            <a:gs pos="100000">
              <a:srgbClr val="D9D24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77552"/>
            <a:ext cx="72237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chemeClr val="bg2">
                    <a:lumMod val="25000"/>
                  </a:schemeClr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Wheel of Fortune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LEGENDARY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Perubahan, kesempatan, dan siklus kehidupan.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11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24EC63-942A-2155-303A-01DAECE7A81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944" y="206298"/>
            <a:ext cx="2491232" cy="64454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Wheel of Fortune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LEGENDARY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Perubahan sulit dan kebutuhan menyesuaikan rencana.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11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9547BC-8860-4293-4B9E-D8FC68D69F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48944" y="206298"/>
            <a:ext cx="2491232" cy="64454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2FC46"/>
            </a:gs>
            <a:gs pos="53000">
              <a:srgbClr val="738341"/>
            </a:gs>
            <a:gs pos="78650">
              <a:srgbClr val="D9D243"/>
            </a:gs>
            <a:gs pos="100000">
              <a:srgbClr val="D9D24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77552"/>
            <a:ext cx="72237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chemeClr val="bg2">
                    <a:lumMod val="25000"/>
                  </a:schemeClr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Justice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7D3A6"/>
                </a:solidFill>
                <a:latin typeface="Aptos"/>
              </a:rPr>
              <a:t>LEGENDARY  •  UPRIGHT • TEGAK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Keadilan, kejujuran, dan tanggung jawab.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Kartu ini mengajak melihat peluang dengan pikiran terbuka, sambil tetap mempertimbangkan langkah yang diambil.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Peluang apa yang bisa aku sambut dengan bijak?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12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87D3A6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Lihat Reversed →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E40755-40C3-BB37-CCFF-DD82C1A8A88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553" y="236912"/>
            <a:ext cx="2424654" cy="6420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20000"/>
            </a:gs>
            <a:gs pos="57000">
              <a:srgbClr val="881A1A"/>
            </a:gs>
            <a:gs pos="38000">
              <a:srgbClr val="A41414"/>
            </a:gs>
            <a:gs pos="100000">
              <a:srgbClr val="48282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0520" y="256032"/>
            <a:ext cx="7223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BE69"/>
                </a:solidFill>
                <a:latin typeface="Aptos"/>
              </a:rPr>
              <a:t>TAROT ARCANA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60520" y="658368"/>
            <a:ext cx="7223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7EED8"/>
                </a:solidFill>
                <a:latin typeface="Aptos"/>
              </a:rPr>
              <a:t>Justice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13075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7F8B"/>
                </a:solidFill>
                <a:latin typeface="Aptos"/>
              </a:rPr>
              <a:t>LEGENDARY  •  REVERSED • TERBALIK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01952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5CAE5"/>
                </a:solidFill>
                <a:latin typeface="Aptos"/>
              </a:rPr>
              <a:t>MAKNA SIMBOLIS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7132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EED8"/>
                </a:solidFill>
                <a:latin typeface="Aptos"/>
              </a:rPr>
              <a:t>Ketidakadilan, keberpihakan, dan keputusan tanpa fakta.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474720"/>
            <a:ext cx="6903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1B8D3"/>
                </a:solidFill>
                <a:latin typeface="Aptos"/>
              </a:rPr>
              <a:t>Sisi terbalik mengingatkan bahwa tantangan bisa menjadi kesempatan untuk mengevaluasi sikap, kebiasaan, dan pilihan.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98848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7BE69"/>
                </a:solidFill>
                <a:latin typeface="Aptos"/>
              </a:rPr>
              <a:t>Pertanyaan refleksi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00600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7EED8"/>
                </a:solidFill>
                <a:latin typeface="Aptos"/>
              </a:rPr>
              <a:t>Apa yang perlu aku evaluasi sebelum melangkah?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532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1B8D3"/>
                </a:solidFill>
                <a:latin typeface="Aptos"/>
              </a:rPr>
              <a:t>Kartu 12 dari 12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0" y="5806440"/>
            <a:ext cx="1645920" cy="502920"/>
          </a:xfrm>
          <a:prstGeom prst="roundRect">
            <a:avLst/>
          </a:prstGeom>
          <a:solidFill>
            <a:srgbClr val="1A1E37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7EED8"/>
                </a:solidFill>
                <a:latin typeface="Aptos"/>
              </a:rPr>
              <a:t>← Daftar Kartu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8229600" y="5806440"/>
            <a:ext cx="2240280" cy="502920"/>
          </a:xfrm>
          <a:prstGeom prst="roundRect">
            <a:avLst/>
          </a:prstGeom>
          <a:solidFill>
            <a:srgbClr val="E87F8B"/>
          </a:solidFill>
          <a:ln w="15240">
            <a:solidFill>
              <a:srgbClr val="E7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022"/>
                </a:solidFill>
                <a:latin typeface="Aptos"/>
              </a:rPr>
              <a:t>← Lihat 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129032-4ED6-2F3E-C517-C9DA24EC27D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002553" y="236912"/>
            <a:ext cx="2424654" cy="6420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1481</Words>
  <Application>Microsoft Office PowerPoint</Application>
  <PresentationFormat>Widescreen</PresentationFormat>
  <Paragraphs>323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Asus Vivobook</cp:lastModifiedBy>
  <cp:revision>3</cp:revision>
  <dcterms:created xsi:type="dcterms:W3CDTF">2013-01-27T09:14:16Z</dcterms:created>
  <dcterms:modified xsi:type="dcterms:W3CDTF">2026-10-18T18:14:57Z</dcterms:modified>
  <cp:category/>
</cp:coreProperties>
</file>